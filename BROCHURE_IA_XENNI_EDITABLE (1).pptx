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1675"/>
  <p:notesSz cx="6858000" cy="9144000"/>
  <p:embeddedFontLst>
    <p:embeddedFont>
      <p:font typeface="Arial Narrow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jkBsIq0RtzHgirn+1wwBJb9kXD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rialNarrow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rialNarrow-italic.fntdata"/><Relationship Id="rId14" Type="http://schemas.openxmlformats.org/officeDocument/2006/relationships/font" Target="fonts/ArialNarrow-bold.fntdata"/><Relationship Id="rId17" Type="http://customschemas.google.com/relationships/presentationmetadata" Target="metadata"/><Relationship Id="rId16" Type="http://schemas.openxmlformats.org/officeDocument/2006/relationships/font" Target="fonts/ArialNarrow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6F4C8"/>
            </a:gs>
            <a:gs pos="100000">
              <a:srgbClr val="F6F7F0"/>
            </a:gs>
          </a:gsLst>
          <a:lin ang="189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57200" y="320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XENNI</a:t>
            </a: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1417320" y="475488"/>
            <a:ext cx="82296" cy="82296"/>
          </a:xfrm>
          <a:prstGeom prst="ellipse">
            <a:avLst/>
          </a:prstGeom>
          <a:solidFill>
            <a:srgbClr val="1416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0424160" y="292608"/>
            <a:ext cx="914400" cy="38404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E6E8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515600" y="3474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C918A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881360" y="3474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ES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457200" y="1371600"/>
            <a:ext cx="77724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DOMINA LA IA.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CREA EN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MINUTOS.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502920" y="452628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5A5F58"/>
                </a:solidFill>
                <a:latin typeface="Cambria"/>
                <a:ea typeface="Cambria"/>
                <a:cs typeface="Cambria"/>
                <a:sym typeface="Cambria"/>
              </a:rPr>
              <a:t>Aprende a crear contenido profesional con IA: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5A5F58"/>
                </a:solidFill>
                <a:latin typeface="Cambria"/>
                <a:ea typeface="Cambria"/>
                <a:cs typeface="Cambria"/>
                <a:sym typeface="Cambria"/>
              </a:rPr>
              <a:t>prompts, imágenes y videos en 10 horas.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502920" y="5440680"/>
            <a:ext cx="2103120" cy="594360"/>
          </a:xfrm>
          <a:prstGeom prst="roundRect">
            <a:avLst>
              <a:gd fmla="val 22000" name="adj"/>
            </a:avLst>
          </a:prstGeom>
          <a:solidFill>
            <a:srgbClr val="B4E6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502920" y="544068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Reservar cupo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502920" y="6172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C918A"/>
                </a:solidFill>
                <a:latin typeface="Calibri"/>
                <a:ea typeface="Calibri"/>
                <a:cs typeface="Calibri"/>
                <a:sym typeface="Calibri"/>
              </a:rPr>
              <a:t>10 horas  ·  en vivo  ·  con certificado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8275320" y="1874519"/>
            <a:ext cx="3200400" cy="32918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90000" rotWithShape="0" dir="5400000" dist="40000">
              <a:srgbClr val="1A1A1A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8531352" y="207568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TU CURSO DE IA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10762488" y="2112263"/>
            <a:ext cx="91440" cy="91440"/>
          </a:xfrm>
          <a:prstGeom prst="ellipse">
            <a:avLst/>
          </a:prstGeom>
          <a:solidFill>
            <a:srgbClr val="5AC8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0908792" y="20574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AC878"/>
                </a:solidFill>
                <a:latin typeface="Calibri"/>
                <a:ea typeface="Calibri"/>
                <a:cs typeface="Calibri"/>
                <a:sym typeface="Calibri"/>
              </a:rPr>
              <a:t>EN VIVO</a:t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8531352" y="2532887"/>
            <a:ext cx="411480" cy="411480"/>
          </a:xfrm>
          <a:prstGeom prst="roundRect">
            <a:avLst>
              <a:gd fmla="val 25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9052560" y="2514599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Prompts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9052560" y="275234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Tu librería lista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11018520" y="2670047"/>
            <a:ext cx="109728" cy="109728"/>
          </a:xfrm>
          <a:prstGeom prst="ellipse">
            <a:avLst/>
          </a:prstGeom>
          <a:solidFill>
            <a:srgbClr val="B4E6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8531352" y="3136391"/>
            <a:ext cx="411480" cy="411480"/>
          </a:xfrm>
          <a:prstGeom prst="roundRect">
            <a:avLst>
              <a:gd fmla="val 25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9052560" y="3118103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Imágenes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9052560" y="33558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Kit de marca visual</a:t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11018520" y="3273551"/>
            <a:ext cx="109728" cy="109728"/>
          </a:xfrm>
          <a:prstGeom prst="ellipse">
            <a:avLst/>
          </a:prstGeom>
          <a:solidFill>
            <a:srgbClr val="F07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8531352" y="3739896"/>
            <a:ext cx="411480" cy="411480"/>
          </a:xfrm>
          <a:prstGeom prst="roundRect">
            <a:avLst>
              <a:gd fmla="val 25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9052560" y="372160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Videos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9052560" y="39593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Reel de 45 segundos</a:t>
            </a:r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11018520" y="3877056"/>
            <a:ext cx="109728" cy="109728"/>
          </a:xfrm>
          <a:prstGeom prst="ellipse">
            <a:avLst/>
          </a:prstGeom>
          <a:solidFill>
            <a:srgbClr val="5AC8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8531352" y="4343400"/>
            <a:ext cx="411480" cy="411480"/>
          </a:xfrm>
          <a:prstGeom prst="roundRect">
            <a:avLst>
              <a:gd fmla="val 25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9052560" y="432511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Integración</a:t>
            </a:r>
            <a:endParaRPr/>
          </a:p>
        </p:txBody>
      </p:sp>
      <p:sp>
        <p:nvSpPr>
          <p:cNvPr id="112" name="Google Shape;112;p1"/>
          <p:cNvSpPr txBox="1"/>
          <p:nvPr/>
        </p:nvSpPr>
        <p:spPr>
          <a:xfrm>
            <a:off x="9052560" y="456285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7 posts a la semana</a:t>
            </a:r>
            <a:endParaRPr/>
          </a:p>
        </p:txBody>
      </p:sp>
      <p:sp>
        <p:nvSpPr>
          <p:cNvPr id="113" name="Google Shape;113;p1"/>
          <p:cNvSpPr/>
          <p:nvPr/>
        </p:nvSpPr>
        <p:spPr>
          <a:xfrm>
            <a:off x="11018520" y="4480560"/>
            <a:ext cx="109728" cy="109728"/>
          </a:xfrm>
          <a:prstGeom prst="ellipse">
            <a:avLst/>
          </a:prstGeom>
          <a:solidFill>
            <a:srgbClr val="B4E6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531352" y="499262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⚡  40+ archivos listos al terminar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6F4C8"/>
            </a:gs>
            <a:gs pos="100000">
              <a:srgbClr val="F6F7F0"/>
            </a:gs>
          </a:gsLst>
          <a:lin ang="18900000" scaled="0"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 txBox="1"/>
          <p:nvPr/>
        </p:nvSpPr>
        <p:spPr>
          <a:xfrm>
            <a:off x="457200" y="320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XENNI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1417320" y="475488"/>
            <a:ext cx="82296" cy="82296"/>
          </a:xfrm>
          <a:prstGeom prst="ellipse">
            <a:avLst/>
          </a:prstGeom>
          <a:solidFill>
            <a:srgbClr val="1416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457200" y="1188720"/>
            <a:ext cx="9144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2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PIERDES HORAS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2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EN LO REPETITIVO.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502920" y="2788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00" u="none" cap="none" strike="noStrike">
                <a:solidFill>
                  <a:srgbClr val="5A5F58"/>
                </a:solidFill>
                <a:latin typeface="Cambria"/>
                <a:ea typeface="Cambria"/>
                <a:cs typeface="Cambria"/>
                <a:sym typeface="Cambria"/>
              </a:rPr>
              <a:t>Lo que hoy te toma toda una tarde, la IA lo resuelve en minutos.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502920" y="3657600"/>
            <a:ext cx="3383280" cy="219456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90000" rotWithShape="0" dir="5400000" dist="40000">
              <a:srgbClr val="1A1A1A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822960" y="393192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07828"/>
                </a:solidFill>
                <a:latin typeface="Arial Narrow"/>
                <a:ea typeface="Arial Narrow"/>
                <a:cs typeface="Arial Narrow"/>
                <a:sym typeface="Arial Narrow"/>
              </a:rPr>
              <a:t>8 h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822960" y="498348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Crear un solo post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para redes sociales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4206240" y="3657600"/>
            <a:ext cx="3383280" cy="219456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90000" rotWithShape="0" dir="5400000" dist="40000">
              <a:srgbClr val="1A1A1A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4526279" y="393192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07828"/>
                </a:solidFill>
                <a:latin typeface="Arial Narrow"/>
                <a:ea typeface="Arial Narrow"/>
                <a:cs typeface="Arial Narrow"/>
                <a:sym typeface="Arial Narrow"/>
              </a:rPr>
              <a:t>4 h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4526279" y="498348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Escribir los mismos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tipos de textos</a:t>
            </a:r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7909560" y="3657600"/>
            <a:ext cx="3383280" cy="219456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90000" rotWithShape="0" dir="5400000" dist="40000">
              <a:srgbClr val="1A1A1A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8229600" y="393192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07828"/>
                </a:solidFill>
                <a:latin typeface="Arial Narrow"/>
                <a:ea typeface="Arial Narrow"/>
                <a:cs typeface="Arial Narrow"/>
                <a:sym typeface="Arial Narrow"/>
              </a:rPr>
              <a:t>3 h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8229600" y="498348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Editar un video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desde cero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6F4C8"/>
            </a:gs>
            <a:gs pos="100000">
              <a:srgbClr val="F6F7F0"/>
            </a:gs>
          </a:gsLst>
          <a:lin ang="18900000" scaled="0"/>
        </a:gra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 txBox="1"/>
          <p:nvPr/>
        </p:nvSpPr>
        <p:spPr>
          <a:xfrm>
            <a:off x="457200" y="320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XENNI</a:t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1417320" y="475488"/>
            <a:ext cx="82296" cy="82296"/>
          </a:xfrm>
          <a:prstGeom prst="ellipse">
            <a:avLst/>
          </a:prstGeom>
          <a:solidFill>
            <a:srgbClr val="1416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457200" y="1097280"/>
            <a:ext cx="10058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UN FLUJO SIMPLE.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RESULTADOS REALES.</a:t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502920" y="3200400"/>
            <a:ext cx="2514600" cy="15544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90000" rotWithShape="0" dir="5400000" dist="40000">
              <a:srgbClr val="1A1A1A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777240" y="3474720"/>
            <a:ext cx="457200" cy="457200"/>
          </a:xfrm>
          <a:prstGeom prst="roundRect">
            <a:avLst>
              <a:gd fmla="val 25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777240" y="352958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777240" y="4041648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IDEA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777240" y="449884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Tu objetivo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2971800" y="3703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B4E61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3429000" y="3200400"/>
            <a:ext cx="2514600" cy="15544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90000" rotWithShape="0" dir="5400000" dist="40000">
              <a:srgbClr val="1A1A1A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3703320" y="3474720"/>
            <a:ext cx="457200" cy="457200"/>
          </a:xfrm>
          <a:prstGeom prst="roundRect">
            <a:avLst>
              <a:gd fmla="val 25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3703320" y="352958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3703320" y="4041648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PROMPT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3703320" y="449884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La IA escribe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5897880" y="3703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B4E61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6355080" y="3200400"/>
            <a:ext cx="2514600" cy="15544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90000" rotWithShape="0" dir="5400000" dist="40000">
              <a:srgbClr val="1A1A1A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629400" y="3474720"/>
            <a:ext cx="457200" cy="457200"/>
          </a:xfrm>
          <a:prstGeom prst="roundRect">
            <a:avLst>
              <a:gd fmla="val 25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6629400" y="352958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6629400" y="4041648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IMAGEN</a:t>
            </a:r>
            <a:endParaRPr/>
          </a:p>
        </p:txBody>
      </p:sp>
      <p:sp>
        <p:nvSpPr>
          <p:cNvPr id="155" name="Google Shape;155;p3"/>
          <p:cNvSpPr txBox="1"/>
          <p:nvPr/>
        </p:nvSpPr>
        <p:spPr>
          <a:xfrm>
            <a:off x="6629400" y="449884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Visual al instante</a:t>
            </a:r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8823959" y="3703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B4E61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9281160" y="3200400"/>
            <a:ext cx="2514600" cy="15544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90000" rotWithShape="0" dir="5400000" dist="40000">
              <a:srgbClr val="1A1A1A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9555480" y="3474720"/>
            <a:ext cx="457200" cy="457200"/>
          </a:xfrm>
          <a:prstGeom prst="roundRect">
            <a:avLst>
              <a:gd fmla="val 25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9555480" y="352958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9555480" y="4041648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VIDEO</a:t>
            </a:r>
            <a:endParaRPr/>
          </a:p>
        </p:txBody>
      </p:sp>
      <p:sp>
        <p:nvSpPr>
          <p:cNvPr id="161" name="Google Shape;161;p3"/>
          <p:cNvSpPr txBox="1"/>
          <p:nvPr/>
        </p:nvSpPr>
        <p:spPr>
          <a:xfrm>
            <a:off x="9555480" y="449884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Listo para publicar</a:t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502920" y="5212080"/>
            <a:ext cx="11155680" cy="777240"/>
          </a:xfrm>
          <a:prstGeom prst="roundRect">
            <a:avLst>
              <a:gd fmla="val 12000" name="adj"/>
            </a:avLst>
          </a:prstGeom>
          <a:solidFill>
            <a:srgbClr val="B4E6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777240" y="521208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Resultado:   7 posts completos para toda tu semana en menos de 2 horas.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6F4C8"/>
            </a:gs>
            <a:gs pos="100000">
              <a:srgbClr val="F6F7F0"/>
            </a:gs>
          </a:gsLst>
          <a:lin ang="18900000" scaled="0"/>
        </a:gra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 txBox="1"/>
          <p:nvPr/>
        </p:nvSpPr>
        <p:spPr>
          <a:xfrm>
            <a:off x="457200" y="320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XENNI</a:t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1417320" y="475488"/>
            <a:ext cx="82296" cy="82296"/>
          </a:xfrm>
          <a:prstGeom prst="ellipse">
            <a:avLst/>
          </a:prstGeom>
          <a:solidFill>
            <a:srgbClr val="1416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457200" y="109728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QUÉ VAS A DOMINAR.</a:t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502920" y="19659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cap="none" strike="noStrike">
                <a:solidFill>
                  <a:srgbClr val="5A5F58"/>
                </a:solidFill>
                <a:latin typeface="Cambria"/>
                <a:ea typeface="Cambria"/>
                <a:cs typeface="Cambria"/>
                <a:sym typeface="Cambria"/>
              </a:rPr>
              <a:t>4 módulos prácticos  ·  10 horas en vivo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502920" y="2651760"/>
            <a:ext cx="2697480" cy="32004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90000" rotWithShape="0" dir="5400000" dist="40000">
              <a:srgbClr val="1A1A1A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758952" y="2852928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01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2331720" y="2944368"/>
            <a:ext cx="621792" cy="365760"/>
          </a:xfrm>
          <a:prstGeom prst="roundRect">
            <a:avLst>
              <a:gd fmla="val 50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2331720" y="2944368"/>
            <a:ext cx="621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2.5h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758952" y="356616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PROMPTS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758952" y="4215383"/>
            <a:ext cx="109728" cy="109728"/>
          </a:xfrm>
          <a:prstGeom prst="ellipse">
            <a:avLst/>
          </a:prstGeom>
          <a:solidFill>
            <a:srgbClr val="F07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978408" y="41605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ChatGPT, Claude, Gemini</a:t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758952" y="4672583"/>
            <a:ext cx="109728" cy="109728"/>
          </a:xfrm>
          <a:prstGeom prst="ellipse">
            <a:avLst/>
          </a:prstGeom>
          <a:solidFill>
            <a:srgbClr val="F07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978408" y="46177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Técnicas profesionales</a:t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758952" y="5129783"/>
            <a:ext cx="109728" cy="109728"/>
          </a:xfrm>
          <a:prstGeom prst="ellipse">
            <a:avLst/>
          </a:prstGeom>
          <a:solidFill>
            <a:srgbClr val="F07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978408" y="50749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15 prompts reutilizables</a:t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3401568" y="2651760"/>
            <a:ext cx="2697480" cy="32004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90000" rotWithShape="0" dir="5400000" dist="40000">
              <a:srgbClr val="1A1A1A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3657600" y="2852928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02</a:t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5230368" y="2944368"/>
            <a:ext cx="621792" cy="365760"/>
          </a:xfrm>
          <a:prstGeom prst="roundRect">
            <a:avLst>
              <a:gd fmla="val 50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5230368" y="2944368"/>
            <a:ext cx="621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2.5h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3657600" y="356616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IMÁGENES</a:t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3657600" y="4215383"/>
            <a:ext cx="109728" cy="109728"/>
          </a:xfrm>
          <a:prstGeom prst="ellipse">
            <a:avLst/>
          </a:prstGeom>
          <a:solidFill>
            <a:srgbClr val="5AC8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3877056" y="41605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Leonardo AI, DALL-E</a:t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3657600" y="4672583"/>
            <a:ext cx="109728" cy="109728"/>
          </a:xfrm>
          <a:prstGeom prst="ellipse">
            <a:avLst/>
          </a:prstGeom>
          <a:solidFill>
            <a:srgbClr val="5AC8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3877056" y="46177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Estilo y composición</a:t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3657600" y="5129783"/>
            <a:ext cx="109728" cy="109728"/>
          </a:xfrm>
          <a:prstGeom prst="ellipse">
            <a:avLst/>
          </a:prstGeom>
          <a:solidFill>
            <a:srgbClr val="5AC8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3877056" y="50749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Tu kit de marca</a:t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6300216" y="2651760"/>
            <a:ext cx="2697480" cy="32004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90000" rotWithShape="0" dir="5400000" dist="40000">
              <a:srgbClr val="1A1A1A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6556248" y="2852928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03</a:t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8129016" y="2944368"/>
            <a:ext cx="621792" cy="365760"/>
          </a:xfrm>
          <a:prstGeom prst="roundRect">
            <a:avLst>
              <a:gd fmla="val 50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8129016" y="2944368"/>
            <a:ext cx="621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3h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6556248" y="356616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VIDEOS</a:t>
            </a: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6556248" y="4215383"/>
            <a:ext cx="109728" cy="109728"/>
          </a:xfrm>
          <a:prstGeom prst="ellipse">
            <a:avLst/>
          </a:prstGeom>
          <a:solidFill>
            <a:srgbClr val="B4E6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 txBox="1"/>
          <p:nvPr/>
        </p:nvSpPr>
        <p:spPr>
          <a:xfrm>
            <a:off x="6775704" y="41605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Runway, Pika, Veo</a:t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6556248" y="4672583"/>
            <a:ext cx="109728" cy="109728"/>
          </a:xfrm>
          <a:prstGeom prst="ellipse">
            <a:avLst/>
          </a:prstGeom>
          <a:solidFill>
            <a:srgbClr val="B4E6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 txBox="1"/>
          <p:nvPr/>
        </p:nvSpPr>
        <p:spPr>
          <a:xfrm>
            <a:off x="6775704" y="46177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Guion y voz con IA</a:t>
            </a:r>
            <a:endParaRPr/>
          </a:p>
        </p:txBody>
      </p:sp>
      <p:sp>
        <p:nvSpPr>
          <p:cNvPr id="203" name="Google Shape;203;p4"/>
          <p:cNvSpPr/>
          <p:nvPr/>
        </p:nvSpPr>
        <p:spPr>
          <a:xfrm>
            <a:off x="6556248" y="5129783"/>
            <a:ext cx="109728" cy="109728"/>
          </a:xfrm>
          <a:prstGeom prst="ellipse">
            <a:avLst/>
          </a:prstGeom>
          <a:solidFill>
            <a:srgbClr val="B4E6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 txBox="1"/>
          <p:nvPr/>
        </p:nvSpPr>
        <p:spPr>
          <a:xfrm>
            <a:off x="6775704" y="50749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Reel de 45 seg</a:t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9198864" y="2651760"/>
            <a:ext cx="2697480" cy="32004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90000" rotWithShape="0" dir="5400000" dist="40000">
              <a:srgbClr val="1A1A1A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 txBox="1"/>
          <p:nvPr/>
        </p:nvSpPr>
        <p:spPr>
          <a:xfrm>
            <a:off x="9454896" y="2852928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04</a:t>
            </a:r>
            <a:endParaRPr/>
          </a:p>
        </p:txBody>
      </p:sp>
      <p:sp>
        <p:nvSpPr>
          <p:cNvPr id="207" name="Google Shape;207;p4"/>
          <p:cNvSpPr/>
          <p:nvPr/>
        </p:nvSpPr>
        <p:spPr>
          <a:xfrm>
            <a:off x="11027664" y="2944368"/>
            <a:ext cx="621792" cy="365760"/>
          </a:xfrm>
          <a:prstGeom prst="roundRect">
            <a:avLst>
              <a:gd fmla="val 50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11027664" y="2944368"/>
            <a:ext cx="621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2h</a:t>
            </a:r>
            <a:endParaRPr/>
          </a:p>
        </p:txBody>
      </p:sp>
      <p:sp>
        <p:nvSpPr>
          <p:cNvPr id="209" name="Google Shape;209;p4"/>
          <p:cNvSpPr txBox="1"/>
          <p:nvPr/>
        </p:nvSpPr>
        <p:spPr>
          <a:xfrm>
            <a:off x="9454896" y="356616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INTEGRACIÓN</a:t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9454896" y="4215383"/>
            <a:ext cx="109728" cy="109728"/>
          </a:xfrm>
          <a:prstGeom prst="ellipse">
            <a:avLst/>
          </a:prstGeom>
          <a:solidFill>
            <a:srgbClr val="F07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 txBox="1"/>
          <p:nvPr/>
        </p:nvSpPr>
        <p:spPr>
          <a:xfrm>
            <a:off x="9674352" y="41605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Flujo completo</a:t>
            </a:r>
            <a:endParaRPr/>
          </a:p>
        </p:txBody>
      </p:sp>
      <p:sp>
        <p:nvSpPr>
          <p:cNvPr id="212" name="Google Shape;212;p4"/>
          <p:cNvSpPr/>
          <p:nvPr/>
        </p:nvSpPr>
        <p:spPr>
          <a:xfrm>
            <a:off x="9454896" y="4672583"/>
            <a:ext cx="109728" cy="109728"/>
          </a:xfrm>
          <a:prstGeom prst="ellipse">
            <a:avLst/>
          </a:prstGeom>
          <a:solidFill>
            <a:srgbClr val="F07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 txBox="1"/>
          <p:nvPr/>
        </p:nvSpPr>
        <p:spPr>
          <a:xfrm>
            <a:off x="9674352" y="46177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7 posts en 2 horas</a:t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9454896" y="5129783"/>
            <a:ext cx="109728" cy="109728"/>
          </a:xfrm>
          <a:prstGeom prst="ellipse">
            <a:avLst/>
          </a:prstGeom>
          <a:solidFill>
            <a:srgbClr val="F07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 txBox="1"/>
          <p:nvPr/>
        </p:nvSpPr>
        <p:spPr>
          <a:xfrm>
            <a:off x="9674352" y="50749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Casos de tu rubro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6F4C8"/>
            </a:gs>
            <a:gs pos="100000">
              <a:srgbClr val="F6F7F0"/>
            </a:gs>
          </a:gsLst>
          <a:lin ang="18900000" scaled="0"/>
        </a:gra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"/>
          <p:cNvSpPr txBox="1"/>
          <p:nvPr/>
        </p:nvSpPr>
        <p:spPr>
          <a:xfrm>
            <a:off x="457200" y="320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XENNI</a:t>
            </a: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1417320" y="475488"/>
            <a:ext cx="82296" cy="82296"/>
          </a:xfrm>
          <a:prstGeom prst="ellipse">
            <a:avLst/>
          </a:prstGeom>
          <a:solidFill>
            <a:srgbClr val="1416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457200" y="109728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TE LLEVAS 4 PROYECTOS.</a:t>
            </a:r>
            <a:endParaRPr/>
          </a:p>
        </p:txBody>
      </p:sp>
      <p:sp>
        <p:nvSpPr>
          <p:cNvPr id="223" name="Google Shape;223;p5"/>
          <p:cNvSpPr txBox="1"/>
          <p:nvPr/>
        </p:nvSpPr>
        <p:spPr>
          <a:xfrm>
            <a:off x="502920" y="1965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cap="none" strike="noStrike">
                <a:solidFill>
                  <a:srgbClr val="5A5F58"/>
                </a:solidFill>
                <a:latin typeface="Cambria"/>
                <a:ea typeface="Cambria"/>
                <a:cs typeface="Cambria"/>
                <a:sym typeface="Cambria"/>
              </a:rPr>
              <a:t>No es teoría. Sales con 40+ archivos listos para usar.</a:t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502920" y="2651760"/>
            <a:ext cx="5349240" cy="13716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>
            <a:noFill/>
          </a:ln>
          <a:effectLst>
            <a:outerShdw blurRad="90000" rotWithShape="0" dir="5400000" dist="40000">
              <a:srgbClr val="1A1A1A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822960" y="3035808"/>
            <a:ext cx="640080" cy="640080"/>
          </a:xfrm>
          <a:prstGeom prst="roundRect">
            <a:avLst>
              <a:gd fmla="val 20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1</a:t>
            </a:r>
            <a:endParaRPr/>
          </a:p>
        </p:txBody>
      </p:sp>
      <p:sp>
        <p:nvSpPr>
          <p:cNvPr id="227" name="Google Shape;227;p5"/>
          <p:cNvSpPr txBox="1"/>
          <p:nvPr/>
        </p:nvSpPr>
        <p:spPr>
          <a:xfrm>
            <a:off x="1691640" y="2999232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Librería de Prompts</a:t>
            </a:r>
            <a:endParaRPr/>
          </a:p>
        </p:txBody>
      </p:sp>
      <p:sp>
        <p:nvSpPr>
          <p:cNvPr id="228" name="Google Shape;228;p5"/>
          <p:cNvSpPr txBox="1"/>
          <p:nvPr/>
        </p:nvSpPr>
        <p:spPr>
          <a:xfrm>
            <a:off x="1691640" y="3456432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15 prompts listos para copiar y pegar</a:t>
            </a: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6355080" y="2651760"/>
            <a:ext cx="5349240" cy="13716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>
            <a:noFill/>
          </a:ln>
          <a:effectLst>
            <a:outerShdw blurRad="90000" rotWithShape="0" dir="5400000" dist="40000">
              <a:srgbClr val="1A1A1A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6675120" y="3035808"/>
            <a:ext cx="640080" cy="640080"/>
          </a:xfrm>
          <a:prstGeom prst="roundRect">
            <a:avLst>
              <a:gd fmla="val 20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 txBox="1"/>
          <p:nvPr/>
        </p:nvSpPr>
        <p:spPr>
          <a:xfrm>
            <a:off x="6675120" y="310896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2</a:t>
            </a:r>
            <a:endParaRPr/>
          </a:p>
        </p:txBody>
      </p:sp>
      <p:sp>
        <p:nvSpPr>
          <p:cNvPr id="232" name="Google Shape;232;p5"/>
          <p:cNvSpPr txBox="1"/>
          <p:nvPr/>
        </p:nvSpPr>
        <p:spPr>
          <a:xfrm>
            <a:off x="7543800" y="2999232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Kit de Marca Visual</a:t>
            </a:r>
            <a:endParaRPr/>
          </a:p>
        </p:txBody>
      </p:sp>
      <p:sp>
        <p:nvSpPr>
          <p:cNvPr id="233" name="Google Shape;233;p5"/>
          <p:cNvSpPr txBox="1"/>
          <p:nvPr/>
        </p:nvSpPr>
        <p:spPr>
          <a:xfrm>
            <a:off x="7543800" y="3456432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Logo, paleta y 5 imágenes con tu identidad</a:t>
            </a: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502920" y="4160520"/>
            <a:ext cx="5349240" cy="13716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>
            <a:noFill/>
          </a:ln>
          <a:effectLst>
            <a:outerShdw blurRad="90000" rotWithShape="0" dir="5400000" dist="40000">
              <a:srgbClr val="1A1A1A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822960" y="4544568"/>
            <a:ext cx="640080" cy="640080"/>
          </a:xfrm>
          <a:prstGeom prst="roundRect">
            <a:avLst>
              <a:gd fmla="val 20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822960" y="461772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endParaRPr/>
          </a:p>
        </p:txBody>
      </p:sp>
      <p:sp>
        <p:nvSpPr>
          <p:cNvPr id="237" name="Google Shape;237;p5"/>
          <p:cNvSpPr txBox="1"/>
          <p:nvPr/>
        </p:nvSpPr>
        <p:spPr>
          <a:xfrm>
            <a:off x="1691640" y="4507992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Video Profesional</a:t>
            </a:r>
            <a:endParaRPr/>
          </a:p>
        </p:txBody>
      </p:sp>
      <p:sp>
        <p:nvSpPr>
          <p:cNvPr id="238" name="Google Shape;238;p5"/>
          <p:cNvSpPr txBox="1"/>
          <p:nvPr/>
        </p:nvSpPr>
        <p:spPr>
          <a:xfrm>
            <a:off x="1691640" y="4965192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Un reel de 45 seg para TikTok y Reels</a:t>
            </a:r>
            <a:endParaRPr/>
          </a:p>
        </p:txBody>
      </p:sp>
      <p:sp>
        <p:nvSpPr>
          <p:cNvPr id="239" name="Google Shape;239;p5"/>
          <p:cNvSpPr/>
          <p:nvPr/>
        </p:nvSpPr>
        <p:spPr>
          <a:xfrm>
            <a:off x="6355080" y="4160520"/>
            <a:ext cx="5349240" cy="13716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>
            <a:noFill/>
          </a:ln>
          <a:effectLst>
            <a:outerShdw blurRad="90000" rotWithShape="0" dir="5400000" dist="40000">
              <a:srgbClr val="1A1A1A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6675120" y="4544568"/>
            <a:ext cx="640080" cy="640080"/>
          </a:xfrm>
          <a:prstGeom prst="roundRect">
            <a:avLst>
              <a:gd fmla="val 20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 txBox="1"/>
          <p:nvPr/>
        </p:nvSpPr>
        <p:spPr>
          <a:xfrm>
            <a:off x="6675120" y="461772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/>
          </a:p>
        </p:txBody>
      </p:sp>
      <p:sp>
        <p:nvSpPr>
          <p:cNvPr id="242" name="Google Shape;242;p5"/>
          <p:cNvSpPr txBox="1"/>
          <p:nvPr/>
        </p:nvSpPr>
        <p:spPr>
          <a:xfrm>
            <a:off x="7543800" y="4507992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Calendario de Contenido</a:t>
            </a:r>
            <a:endParaRPr/>
          </a:p>
        </p:txBody>
      </p:sp>
      <p:sp>
        <p:nvSpPr>
          <p:cNvPr id="243" name="Google Shape;243;p5"/>
          <p:cNvSpPr txBox="1"/>
          <p:nvPr/>
        </p:nvSpPr>
        <p:spPr>
          <a:xfrm>
            <a:off x="7543800" y="4965192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7 publicaciones completas para tu semana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6F4C8"/>
            </a:gs>
            <a:gs pos="100000">
              <a:srgbClr val="F6F7F0"/>
            </a:gs>
          </a:gsLst>
          <a:lin ang="18900000" scaled="0"/>
        </a:gra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"/>
          <p:cNvSpPr txBox="1"/>
          <p:nvPr/>
        </p:nvSpPr>
        <p:spPr>
          <a:xfrm>
            <a:off x="457200" y="320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XENNI</a:t>
            </a:r>
            <a:endParaRPr/>
          </a:p>
        </p:txBody>
      </p:sp>
      <p:sp>
        <p:nvSpPr>
          <p:cNvPr id="249" name="Google Shape;249;p6"/>
          <p:cNvSpPr/>
          <p:nvPr/>
        </p:nvSpPr>
        <p:spPr>
          <a:xfrm>
            <a:off x="1417320" y="475488"/>
            <a:ext cx="82296" cy="82296"/>
          </a:xfrm>
          <a:prstGeom prst="ellipse">
            <a:avLst/>
          </a:prstGeom>
          <a:solidFill>
            <a:srgbClr val="1416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457200" y="109728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TU PROFESORA.</a:t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502920" y="2103120"/>
            <a:ext cx="5532120" cy="402336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90000" rotWithShape="0" dir="5400000" dist="40000">
              <a:srgbClr val="1A1A1A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868680" y="2468879"/>
            <a:ext cx="1188720" cy="1188720"/>
          </a:xfrm>
          <a:prstGeom prst="roundRect">
            <a:avLst>
              <a:gd fmla="val 50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 txBox="1"/>
          <p:nvPr/>
        </p:nvSpPr>
        <p:spPr>
          <a:xfrm>
            <a:off x="2286000" y="256032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Mirna Ampuero</a:t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2286000" y="3154679"/>
            <a:ext cx="3657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5A5F58"/>
                </a:solidFill>
                <a:latin typeface="Cambria"/>
                <a:ea typeface="Cambria"/>
                <a:cs typeface="Cambria"/>
                <a:sym typeface="Cambria"/>
              </a:rPr>
              <a:t>Especialista en IA aplicada </a:t>
            </a: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868680" y="4114800"/>
            <a:ext cx="292608" cy="292608"/>
          </a:xfrm>
          <a:prstGeom prst="roundRect">
            <a:avLst>
              <a:gd fmla="val 25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1325880" y="411480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+500 profesionales capacitados en Latinoamérica</a:t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868680" y="4617720"/>
            <a:ext cx="292608" cy="292608"/>
          </a:xfrm>
          <a:prstGeom prst="roundRect">
            <a:avLst>
              <a:gd fmla="val 25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 txBox="1"/>
          <p:nvPr/>
        </p:nvSpPr>
        <p:spPr>
          <a:xfrm>
            <a:off x="1325880" y="461772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Metodología práctica: demo en vivo y casos reales</a:t>
            </a:r>
            <a:endParaRPr/>
          </a:p>
        </p:txBody>
      </p:sp>
      <p:sp>
        <p:nvSpPr>
          <p:cNvPr id="259" name="Google Shape;259;p6"/>
          <p:cNvSpPr/>
          <p:nvPr/>
        </p:nvSpPr>
        <p:spPr>
          <a:xfrm>
            <a:off x="868680" y="5120640"/>
            <a:ext cx="292608" cy="292608"/>
          </a:xfrm>
          <a:prstGeom prst="roundRect">
            <a:avLst>
              <a:gd fmla="val 25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 txBox="1"/>
          <p:nvPr/>
        </p:nvSpPr>
        <p:spPr>
          <a:xfrm>
            <a:off x="1325880" y="512064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A5F58"/>
                </a:solidFill>
                <a:latin typeface="Calibri"/>
                <a:ea typeface="Calibri"/>
                <a:cs typeface="Calibri"/>
                <a:sym typeface="Calibri"/>
              </a:rPr>
              <a:t>Enfoque en resultados aplicables desde el primer día</a:t>
            </a:r>
            <a:endParaRPr/>
          </a:p>
        </p:txBody>
      </p:sp>
      <p:sp>
        <p:nvSpPr>
          <p:cNvPr id="261" name="Google Shape;261;p6"/>
          <p:cNvSpPr txBox="1"/>
          <p:nvPr/>
        </p:nvSpPr>
        <p:spPr>
          <a:xfrm>
            <a:off x="868680" y="56692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C918A"/>
                </a:solidFill>
                <a:latin typeface="Calibri"/>
                <a:ea typeface="Calibri"/>
                <a:cs typeface="Calibri"/>
                <a:sym typeface="Calibri"/>
              </a:rPr>
              <a:t>LinkedIn: in/mirnaampuero</a:t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6309360" y="2103120"/>
            <a:ext cx="5349240" cy="4023360"/>
          </a:xfrm>
          <a:prstGeom prst="roundRect">
            <a:avLst>
              <a:gd fmla="val 5000" name="adj"/>
            </a:avLst>
          </a:prstGeom>
          <a:solidFill>
            <a:srgbClr val="141612"/>
          </a:solidFill>
          <a:ln>
            <a:noFill/>
          </a:ln>
          <a:effectLst>
            <a:outerShdw blurRad="90000" rotWithShape="0" dir="5400000" dist="40000">
              <a:srgbClr val="1A1A1A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 txBox="1"/>
          <p:nvPr/>
        </p:nvSpPr>
        <p:spPr>
          <a:xfrm>
            <a:off x="6675120" y="2423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4E61E"/>
                </a:solidFill>
                <a:latin typeface="Calibri"/>
                <a:ea typeface="Calibri"/>
                <a:cs typeface="Calibri"/>
                <a:sym typeface="Calibri"/>
              </a:rPr>
              <a:t>FORMATO INTENSIVO</a:t>
            </a:r>
            <a:endParaRPr/>
          </a:p>
        </p:txBody>
      </p:sp>
      <p:sp>
        <p:nvSpPr>
          <p:cNvPr id="264" name="Google Shape;264;p6"/>
          <p:cNvSpPr txBox="1"/>
          <p:nvPr/>
        </p:nvSpPr>
        <p:spPr>
          <a:xfrm>
            <a:off x="6675120" y="278892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4 SÁBADOS</a:t>
            </a:r>
            <a:endParaRPr/>
          </a:p>
        </p:txBody>
      </p:sp>
      <p:sp>
        <p:nvSpPr>
          <p:cNvPr id="265" name="Google Shape;265;p6"/>
          <p:cNvSpPr txBox="1"/>
          <p:nvPr/>
        </p:nvSpPr>
        <p:spPr>
          <a:xfrm>
            <a:off x="6675120" y="3611879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B4E61E"/>
                </a:solidFill>
                <a:latin typeface="Cambria"/>
                <a:ea typeface="Cambria"/>
                <a:cs typeface="Cambria"/>
                <a:sym typeface="Cambria"/>
              </a:rPr>
              <a:t>Inicio: 11 de julio</a:t>
            </a:r>
            <a:endParaRPr/>
          </a:p>
        </p:txBody>
      </p:sp>
      <p:sp>
        <p:nvSpPr>
          <p:cNvPr id="266" name="Google Shape;266;p6"/>
          <p:cNvSpPr/>
          <p:nvPr/>
        </p:nvSpPr>
        <p:spPr>
          <a:xfrm>
            <a:off x="6675120" y="4279392"/>
            <a:ext cx="146304" cy="146304"/>
          </a:xfrm>
          <a:prstGeom prst="ellipse">
            <a:avLst/>
          </a:prstGeom>
          <a:solidFill>
            <a:srgbClr val="B4E6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6967728" y="42062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sábados</a:t>
            </a:r>
            <a:endParaRPr/>
          </a:p>
        </p:txBody>
      </p:sp>
      <p:sp>
        <p:nvSpPr>
          <p:cNvPr id="268" name="Google Shape;268;p6"/>
          <p:cNvSpPr txBox="1"/>
          <p:nvPr/>
        </p:nvSpPr>
        <p:spPr>
          <a:xfrm>
            <a:off x="9052560" y="42062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C918A"/>
                </a:solidFill>
                <a:latin typeface="Calibri"/>
                <a:ea typeface="Calibri"/>
                <a:cs typeface="Calibri"/>
                <a:sym typeface="Calibri"/>
              </a:rPr>
              <a:t>consecutivos</a:t>
            </a: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6675120" y="4782312"/>
            <a:ext cx="146304" cy="146304"/>
          </a:xfrm>
          <a:prstGeom prst="ellipse">
            <a:avLst/>
          </a:prstGeom>
          <a:solidFill>
            <a:srgbClr val="B4E6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 txBox="1"/>
          <p:nvPr/>
        </p:nvSpPr>
        <p:spPr>
          <a:xfrm>
            <a:off x="6967728" y="4709159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4:00 – 6:30 PM</a:t>
            </a:r>
            <a:endParaRPr/>
          </a:p>
        </p:txBody>
      </p:sp>
      <p:sp>
        <p:nvSpPr>
          <p:cNvPr id="271" name="Google Shape;271;p6"/>
          <p:cNvSpPr txBox="1"/>
          <p:nvPr/>
        </p:nvSpPr>
        <p:spPr>
          <a:xfrm>
            <a:off x="9052560" y="4709159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C918A"/>
                </a:solidFill>
                <a:latin typeface="Calibri"/>
                <a:ea typeface="Calibri"/>
                <a:cs typeface="Calibri"/>
                <a:sym typeface="Calibri"/>
              </a:rPr>
              <a:t>2.5 h por sesión</a:t>
            </a:r>
            <a:endParaRPr/>
          </a:p>
        </p:txBody>
      </p:sp>
      <p:sp>
        <p:nvSpPr>
          <p:cNvPr id="272" name="Google Shape;272;p6"/>
          <p:cNvSpPr txBox="1"/>
          <p:nvPr/>
        </p:nvSpPr>
        <p:spPr>
          <a:xfrm>
            <a:off x="6675120" y="50749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B4E61E"/>
                </a:solidFill>
                <a:latin typeface="Arial Narrow"/>
                <a:ea typeface="Arial Narrow"/>
                <a:cs typeface="Arial Narrow"/>
                <a:sym typeface="Arial Narrow"/>
              </a:rPr>
              <a:t>496 soles</a:t>
            </a:r>
            <a:endParaRPr/>
          </a:p>
        </p:txBody>
      </p:sp>
      <p:sp>
        <p:nvSpPr>
          <p:cNvPr id="273" name="Google Shape;273;p6"/>
          <p:cNvSpPr txBox="1"/>
          <p:nvPr/>
        </p:nvSpPr>
        <p:spPr>
          <a:xfrm>
            <a:off x="6675120" y="57607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918A"/>
                </a:solidFill>
                <a:latin typeface="Calibri"/>
                <a:ea typeface="Calibri"/>
                <a:cs typeface="Calibri"/>
                <a:sym typeface="Calibri"/>
              </a:rPr>
              <a:t>Cupos limitados · grupos reducidos</a:t>
            </a:r>
            <a:endParaRPr/>
          </a:p>
        </p:txBody>
      </p:sp>
      <p:pic>
        <p:nvPicPr>
          <p:cNvPr id="274" name="Google Shape;274;p6" title="MIRNA2.jpg"/>
          <p:cNvPicPr preferRelativeResize="0"/>
          <p:nvPr/>
        </p:nvPicPr>
        <p:blipFill rotWithShape="1">
          <a:blip r:embed="rId3">
            <a:alphaModFix/>
          </a:blip>
          <a:srcRect b="26373" l="5299" r="7548" t="5162"/>
          <a:stretch/>
        </p:blipFill>
        <p:spPr>
          <a:xfrm>
            <a:off x="868677" y="2412800"/>
            <a:ext cx="1299675" cy="1529467"/>
          </a:xfrm>
          <a:prstGeom prst="rect">
            <a:avLst/>
          </a:prstGeom>
          <a:solidFill>
            <a:srgbClr val="D9F09C"/>
          </a:solidFill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6F4C8"/>
            </a:gs>
            <a:gs pos="100000">
              <a:srgbClr val="F6F7F0"/>
            </a:gs>
          </a:gsLst>
          <a:lin ang="18900000" scaled="0"/>
        </a:gra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"/>
          <p:cNvSpPr txBox="1"/>
          <p:nvPr/>
        </p:nvSpPr>
        <p:spPr>
          <a:xfrm>
            <a:off x="457200" y="320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XENNI</a:t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1417320" y="475488"/>
            <a:ext cx="82296" cy="82296"/>
          </a:xfrm>
          <a:prstGeom prst="ellipse">
            <a:avLst/>
          </a:prstGeom>
          <a:solidFill>
            <a:srgbClr val="1416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4160520" y="1371600"/>
            <a:ext cx="3840480" cy="457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E6E8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4434840" y="1508760"/>
            <a:ext cx="109728" cy="109728"/>
          </a:xfrm>
          <a:prstGeom prst="ellipse">
            <a:avLst/>
          </a:prstGeom>
          <a:solidFill>
            <a:srgbClr val="5AC8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 txBox="1"/>
          <p:nvPr/>
        </p:nvSpPr>
        <p:spPr>
          <a:xfrm>
            <a:off x="4663440" y="14173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ÚLTIMOS CUPOS DISPONIBLES</a:t>
            </a:r>
            <a:endParaRPr/>
          </a:p>
        </p:txBody>
      </p:sp>
      <p:sp>
        <p:nvSpPr>
          <p:cNvPr id="284" name="Google Shape;284;p7"/>
          <p:cNvSpPr txBox="1"/>
          <p:nvPr/>
        </p:nvSpPr>
        <p:spPr>
          <a:xfrm>
            <a:off x="457200" y="2103120"/>
            <a:ext cx="112471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TU TIEMPO VALE.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141612"/>
                </a:solidFill>
                <a:latin typeface="Arial Narrow"/>
                <a:ea typeface="Arial Narrow"/>
                <a:cs typeface="Arial Narrow"/>
                <a:sym typeface="Arial Narrow"/>
              </a:rPr>
              <a:t>RECUPÉRALO CON IA.</a:t>
            </a:r>
            <a:endParaRPr/>
          </a:p>
        </p:txBody>
      </p:sp>
      <p:sp>
        <p:nvSpPr>
          <p:cNvPr id="285" name="Google Shape;285;p7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00" u="none" cap="none" strike="noStrike">
                <a:solidFill>
                  <a:srgbClr val="5A5F58"/>
                </a:solidFill>
                <a:latin typeface="Cambria"/>
                <a:ea typeface="Cambria"/>
                <a:cs typeface="Cambria"/>
                <a:sym typeface="Cambria"/>
              </a:rPr>
              <a:t>10 horas que cambian tu forma de trabajar para siempre.</a:t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2377440" y="4754880"/>
            <a:ext cx="292608" cy="292608"/>
          </a:xfrm>
          <a:prstGeom prst="roundRect">
            <a:avLst>
              <a:gd fmla="val 25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 txBox="1"/>
          <p:nvPr/>
        </p:nvSpPr>
        <p:spPr>
          <a:xfrm>
            <a:off x="2788920" y="47548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Certificado verificable</a:t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4983480" y="4754880"/>
            <a:ext cx="292608" cy="292608"/>
          </a:xfrm>
          <a:prstGeom prst="roundRect">
            <a:avLst>
              <a:gd fmla="val 25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 txBox="1"/>
          <p:nvPr/>
        </p:nvSpPr>
        <p:spPr>
          <a:xfrm>
            <a:off x="5394960" y="47548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Comunidad privada</a:t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7589520" y="4754880"/>
            <a:ext cx="292608" cy="292608"/>
          </a:xfrm>
          <a:prstGeom prst="roundRect">
            <a:avLst>
              <a:gd fmla="val 25000" name="adj"/>
            </a:avLst>
          </a:prstGeom>
          <a:solidFill>
            <a:srgbClr val="D9F0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 txBox="1"/>
          <p:nvPr/>
        </p:nvSpPr>
        <p:spPr>
          <a:xfrm>
            <a:off x="8001000" y="47548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Garantía de 2 clases</a:t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4261104" y="5440680"/>
            <a:ext cx="3657600" cy="777240"/>
          </a:xfrm>
          <a:prstGeom prst="roundRect">
            <a:avLst>
              <a:gd fmla="val 22000" name="adj"/>
            </a:avLst>
          </a:prstGeom>
          <a:solidFill>
            <a:srgbClr val="B4E6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 txBox="1"/>
          <p:nvPr/>
        </p:nvSpPr>
        <p:spPr>
          <a:xfrm>
            <a:off x="4261104" y="544068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1612"/>
                </a:solidFill>
                <a:latin typeface="Calibri"/>
                <a:ea typeface="Calibri"/>
                <a:cs typeface="Calibri"/>
                <a:sym typeface="Calibri"/>
              </a:rPr>
              <a:t>Reservar mi cupo</a:t>
            </a:r>
            <a:endParaRPr/>
          </a:p>
        </p:txBody>
      </p:sp>
      <p:sp>
        <p:nvSpPr>
          <p:cNvPr id="294" name="Google Shape;294;p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C918A"/>
                </a:solidFill>
                <a:latin typeface="Calibri"/>
                <a:ea typeface="Calibri"/>
                <a:cs typeface="Calibri"/>
                <a:sym typeface="Calibri"/>
              </a:rPr>
              <a:t>496 soles  ·  Con Mirna Ampuero  ·  Escríbenos: [WhatsApp]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